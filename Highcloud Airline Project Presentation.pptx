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napaka Omkar" userId="a666b3d85c82c417" providerId="LiveId" clId="{E07A7C65-D6D8-46A8-8211-C36CD9A2EEFE}"/>
    <pc:docChg chg="custSel modSld">
      <pc:chgData name="Pinapaka Omkar" userId="a666b3d85c82c417" providerId="LiveId" clId="{E07A7C65-D6D8-46A8-8211-C36CD9A2EEFE}" dt="2026-08-09T10:52:06.939" v="0" actId="478"/>
      <pc:docMkLst>
        <pc:docMk/>
      </pc:docMkLst>
      <pc:sldChg chg="delSp mod">
        <pc:chgData name="Pinapaka Omkar" userId="a666b3d85c82c417" providerId="LiveId" clId="{E07A7C65-D6D8-46A8-8211-C36CD9A2EEFE}" dt="2026-08-09T10:52:06.939" v="0" actId="478"/>
        <pc:sldMkLst>
          <pc:docMk/>
          <pc:sldMk cId="0" sldId="260"/>
        </pc:sldMkLst>
        <pc:picChg chg="del">
          <ac:chgData name="Pinapaka Omkar" userId="a666b3d85c82c417" providerId="LiveId" clId="{E07A7C65-D6D8-46A8-8211-C36CD9A2EEFE}" dt="2026-08-09T10:52:06.939" v="0" actId="478"/>
          <ac:picMkLst>
            <pc:docMk/>
            <pc:sldMk cId="0" sldId="260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5468" y="1495526"/>
            <a:ext cx="8501062" cy="1333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75"/>
              </a:lnSpc>
            </a:pPr>
            <a:r>
              <a:rPr lang="en-US" sz="4500" b="1" i="0" u="none" dirty="0">
                <a:solidFill>
                  <a:srgbClr val="F8FAFC"/>
                </a:solidFill>
                <a:latin typeface="Poppins"/>
              </a:rPr>
              <a:t>High cloud Airline </a:t>
            </a:r>
            <a:r>
              <a:rPr sz="4500" b="1" i="0" u="none" dirty="0">
                <a:solidFill>
                  <a:srgbClr val="F8FAFC"/>
                </a:solidFill>
                <a:latin typeface="Poppin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481387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Lato"/>
              </a:rPr>
              <a:t>End-to-End Analytics Pipeline: SQL Extraction, Excel Dashboards, Power BI Insights &amp; Tableau 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43162"/>
            <a:ext cx="354955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2443162"/>
            <a:ext cx="3549699" cy="838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2443162"/>
            <a:ext cx="3549550" cy="838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471862"/>
            <a:ext cx="3549550" cy="83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3471862"/>
            <a:ext cx="3549699" cy="838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3471862"/>
            <a:ext cx="3549550" cy="838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500562"/>
            <a:ext cx="354955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4500562"/>
            <a:ext cx="3549699" cy="838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4500562"/>
            <a:ext cx="3549550" cy="838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624137"/>
            <a:ext cx="542925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95425" y="2757487"/>
            <a:ext cx="9620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Introduction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0150" y="2624137"/>
            <a:ext cx="5905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83100" y="2652712"/>
            <a:ext cx="236859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1F5F9"/>
                </a:solidFill>
                <a:latin typeface="Lato SemiBold"/>
              </a:rPr>
              <a:t>Key Performance Indicators (KPIs)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350" y="2624137"/>
            <a:ext cx="600075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32825" y="2757487"/>
            <a:ext cx="1857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1F5F9"/>
                </a:solidFill>
                <a:latin typeface="Lato SemiBold"/>
              </a:rPr>
              <a:t>SQL Queries and Results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652837"/>
            <a:ext cx="60960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62100" y="3786187"/>
            <a:ext cx="1257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Excel Dashboard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0150" y="3652837"/>
            <a:ext cx="60960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02150" y="3786187"/>
            <a:ext cx="1371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Power BI Analysis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350" y="3652837"/>
            <a:ext cx="60960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42350" y="3786187"/>
            <a:ext cx="1609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Tableau Visualization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681537"/>
            <a:ext cx="5905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43050" y="4814887"/>
            <a:ext cx="1323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Challenges Faced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0150" y="4681537"/>
            <a:ext cx="619125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11675" y="4814887"/>
            <a:ext cx="847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Conclusion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0350" y="4681537"/>
            <a:ext cx="600075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32825" y="4814887"/>
            <a:ext cx="800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1F5F9"/>
                </a:solidFill>
                <a:latin typeface="Lato SemiBold"/>
              </a:rPr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Table of Contents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38250"/>
            <a:ext cx="5324475" cy="54936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2" y="1251979"/>
            <a:ext cx="5324475" cy="54609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4879" y="1349041"/>
            <a:ext cx="497062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oppins SemiBold"/>
              </a:rPr>
              <a:t>Project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713982"/>
            <a:ext cx="4733925" cy="5090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 Cloud Airlines is a fictional airline company operating flights across multiple countries, states, and cities.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</a:t>
            </a:r>
            <a:r>
              <a:rPr lang="en-US" sz="1250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company</a:t>
            </a: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generates large volumes of flight, passenger, and operational data every day.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Manual analysis of this data is time-consuming and inefficient.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Management requires an interactive dashboard to monitor airline performance and operational efficiency.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project uses Tableau to transform raw flight data into meaningful visualizations.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dashboard provides real-time insights through interactive charts, maps, and filters.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helps analyze key business metrics such as Load Factor, Number of Flights, Top Airlines, and Popular Routes.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Users can search flights using Source and Destination filters (Country → State → City).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dashboard supports data-driven decision-making for route planning, capacity utilization, and performance monitoring.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solution enables management to identify trends, improve operational efficiency, and enhance business performance.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en-US" sz="1275" b="0" i="0" u="none" dirty="0">
              <a:solidFill>
                <a:srgbClr val="CBD5E1"/>
              </a:solidFill>
              <a:latin typeface="Lato"/>
            </a:endParaRPr>
          </a:p>
          <a:p>
            <a:pPr algn="l">
              <a:lnSpc>
                <a:spcPts val="1912"/>
              </a:lnSpc>
            </a:pPr>
            <a:endParaRPr lang="en-US" sz="1275" b="0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1775" y="1337438"/>
            <a:ext cx="497062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oppins SemiBold"/>
              </a:rPr>
              <a:t>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4" y="1713982"/>
            <a:ext cx="4733925" cy="4847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Develop an interactive Tableau dashboard to analyze airline performance.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Monitor key performance indicators (KPIs) such as Load Factor, Number of Flights, and Carrier Performance.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Visualize flight trends across Yearly, Quarterly, and Monthly periods.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Identify the Top 10 Airlines and Top Flight Routes based on operational data.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Compare Weekend vs. Weekday flight occupancy to understand passenger travel patterns.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Enable users to search flights using Source and Destination filters (Country → State → City).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Provide geographical insights through interactive maps and location-based visualizations.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Transform raw flight data into meaningful, easy-to-understand business insights.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Support data-driven decision-making for route planning, capacity utilization, and operational efficiency.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50" b="0" i="0" u="none" dirty="0">
                <a:solidFill>
                  <a:srgbClr val="CBD5E1"/>
                </a:solidFill>
                <a:latin typeface="Lato"/>
              </a:rPr>
              <a:t>Improve reporting by replacing manual analysis with an interactive and dynamic dashboard.</a:t>
            </a:r>
            <a:endParaRPr sz="1250" b="0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01. 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8" y="-3302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023" y="1233487"/>
            <a:ext cx="3628083" cy="1519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925" y="1433512"/>
            <a:ext cx="4638675" cy="951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dirty="0">
                <a:solidFill>
                  <a:srgbClr val="38BDF8"/>
                </a:solidFill>
                <a:latin typeface="Poppins"/>
              </a:rPr>
              <a:t>18M</a:t>
            </a:r>
            <a:r>
              <a:rPr sz="7200" b="1" i="0" u="none" dirty="0">
                <a:solidFill>
                  <a:srgbClr val="38BDF8"/>
                </a:solidFill>
                <a:latin typeface="Poppins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2253448"/>
            <a:ext cx="4638675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F8FAFC"/>
                </a:solidFill>
                <a:latin typeface="Lato SemiBold"/>
              </a:rPr>
              <a:t>Total </a:t>
            </a:r>
            <a:r>
              <a:rPr lang="en-US" sz="1500" b="0" i="0" u="none" dirty="0">
                <a:solidFill>
                  <a:srgbClr val="F8FAFC"/>
                </a:solidFill>
                <a:latin typeface="Lato SemiBold"/>
              </a:rPr>
              <a:t>Pa</a:t>
            </a:r>
            <a:r>
              <a:rPr lang="en-US" sz="1500" dirty="0">
                <a:solidFill>
                  <a:srgbClr val="F8FAFC"/>
                </a:solidFill>
                <a:latin typeface="Lato SemiBold"/>
              </a:rPr>
              <a:t>ssengers</a:t>
            </a:r>
            <a:endParaRPr sz="1500" b="0" i="0" u="none" dirty="0">
              <a:solidFill>
                <a:srgbClr val="F8FAFC"/>
              </a:solidFill>
              <a:latin typeface="Lato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60584" y="1370735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oppins SemiBold"/>
              </a:rPr>
              <a:t>Core Metrics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6550" y="1870369"/>
            <a:ext cx="4924425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IN" b="1" i="0" u="none" dirty="0">
                <a:solidFill>
                  <a:srgbClr val="CBD5E1"/>
                </a:solidFill>
                <a:latin typeface="Lato"/>
              </a:rPr>
              <a:t>Load Factor Analysis: </a:t>
            </a:r>
            <a:r>
              <a:rPr lang="en-US" i="0" u="none" dirty="0">
                <a:solidFill>
                  <a:srgbClr val="CBD5E1"/>
                </a:solidFill>
                <a:latin typeface="Lato"/>
              </a:rPr>
              <a:t>Yearly, Quarterly, and Monthly seat occupancy trends.</a:t>
            </a:r>
            <a:endParaRPr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86549" y="2497845"/>
            <a:ext cx="4924425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IN" b="1" i="0" u="none" dirty="0">
                <a:solidFill>
                  <a:srgbClr val="F8FAFC"/>
                </a:solidFill>
                <a:latin typeface="Lato"/>
              </a:rPr>
              <a:t>Carrier Performance: </a:t>
            </a:r>
            <a:r>
              <a:rPr lang="en-US" i="0" u="none" dirty="0">
                <a:solidFill>
                  <a:srgbClr val="F8FAFC"/>
                </a:solidFill>
                <a:latin typeface="Lato"/>
              </a:rPr>
              <a:t>Compare airlines based on operational efficiency.</a:t>
            </a:r>
            <a:endParaRPr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86550" y="3178416"/>
            <a:ext cx="4924425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IN" b="1" i="0" u="none" dirty="0">
                <a:solidFill>
                  <a:srgbClr val="F8FAFC"/>
                </a:solidFill>
                <a:latin typeface="Lato"/>
              </a:rPr>
              <a:t>Route Analysis: </a:t>
            </a:r>
            <a:r>
              <a:rPr lang="en-US" i="0" u="none" dirty="0">
                <a:solidFill>
                  <a:srgbClr val="F8FAFC"/>
                </a:solidFill>
                <a:latin typeface="Lato"/>
              </a:rPr>
              <a:t>Identify high-demand routes based on total flights</a:t>
            </a:r>
            <a:r>
              <a:rPr lang="en-US" b="1" i="0" u="none" dirty="0">
                <a:solidFill>
                  <a:srgbClr val="F8FAFC"/>
                </a:solidFill>
                <a:latin typeface="Lato"/>
              </a:rPr>
              <a:t>.</a:t>
            </a:r>
            <a:endParaRPr b="0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02. Key Performance Indicators (KPIs)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16D310-8440-8011-603B-A377D5D78C09}"/>
              </a:ext>
            </a:extLst>
          </p:cNvPr>
          <p:cNvSpPr txBox="1"/>
          <p:nvPr/>
        </p:nvSpPr>
        <p:spPr>
          <a:xfrm>
            <a:off x="6196153" y="1840424"/>
            <a:ext cx="458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✈️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AF936B-2ADE-678C-2D30-07BD09595C15}"/>
              </a:ext>
            </a:extLst>
          </p:cNvPr>
          <p:cNvSpPr txBox="1"/>
          <p:nvPr/>
        </p:nvSpPr>
        <p:spPr>
          <a:xfrm>
            <a:off x="6177177" y="2158375"/>
            <a:ext cx="3640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🛫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8C56F4-72A0-9581-D202-D975BFAA1653}"/>
              </a:ext>
            </a:extLst>
          </p:cNvPr>
          <p:cNvSpPr txBox="1"/>
          <p:nvPr/>
        </p:nvSpPr>
        <p:spPr>
          <a:xfrm>
            <a:off x="6177177" y="3124488"/>
            <a:ext cx="458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🌍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71F729-70E5-1111-59BF-40710BA8E17D}"/>
              </a:ext>
            </a:extLst>
          </p:cNvPr>
          <p:cNvSpPr txBox="1"/>
          <p:nvPr/>
        </p:nvSpPr>
        <p:spPr>
          <a:xfrm>
            <a:off x="6257861" y="3887486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📅   </a:t>
            </a: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Weekend vs Weekday Analyse</a:t>
            </a: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passenger travel behaviour.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5569B5-A77C-C559-FD58-78BB1DA8AE5F}"/>
              </a:ext>
            </a:extLst>
          </p:cNvPr>
          <p:cNvSpPr txBox="1"/>
          <p:nvPr/>
        </p:nvSpPr>
        <p:spPr>
          <a:xfrm>
            <a:off x="6279376" y="4639547"/>
            <a:ext cx="5353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🔍 </a:t>
            </a: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Interactive Flight Search: </a:t>
            </a: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flights using   Country →State → City filters.</a:t>
            </a:r>
          </a:p>
        </p:txBody>
      </p:sp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E49AF7C9-19E4-5669-CD42-782B40EE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023" y="3124488"/>
            <a:ext cx="3628083" cy="1519441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DF96FBBA-0838-74AC-613C-288D66E0E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023" y="4974329"/>
            <a:ext cx="3628083" cy="151944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ACA0D39-E6B9-FBE9-3E0B-D2A651E4782F}"/>
              </a:ext>
            </a:extLst>
          </p:cNvPr>
          <p:cNvSpPr txBox="1"/>
          <p:nvPr/>
        </p:nvSpPr>
        <p:spPr>
          <a:xfrm>
            <a:off x="930466" y="3286493"/>
            <a:ext cx="4638675" cy="951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i="0" u="none" dirty="0">
                <a:solidFill>
                  <a:srgbClr val="38BDF8"/>
                </a:solidFill>
                <a:latin typeface="Poppins"/>
              </a:rPr>
              <a:t>200+</a:t>
            </a:r>
            <a:endParaRPr sz="7200" b="1" i="0" u="none" dirty="0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FFD112-3205-E58E-08E7-42560F9C87C5}"/>
              </a:ext>
            </a:extLst>
          </p:cNvPr>
          <p:cNvSpPr txBox="1"/>
          <p:nvPr/>
        </p:nvSpPr>
        <p:spPr>
          <a:xfrm>
            <a:off x="824357" y="4271629"/>
            <a:ext cx="4638675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F8FAFC"/>
                </a:solidFill>
                <a:latin typeface="Lato SemiBold"/>
              </a:rPr>
              <a:t>Total </a:t>
            </a:r>
            <a:r>
              <a:rPr lang="en-US" sz="1500" b="0" i="0" u="none" dirty="0">
                <a:solidFill>
                  <a:srgbClr val="F8FAFC"/>
                </a:solidFill>
                <a:latin typeface="Lato SemiBold"/>
              </a:rPr>
              <a:t>Airlines</a:t>
            </a:r>
            <a:endParaRPr sz="1500" b="0" i="0" u="none" dirty="0">
              <a:solidFill>
                <a:srgbClr val="F8FAFC"/>
              </a:solidFill>
              <a:latin typeface="Lato Semi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A3CE1C-8B34-DE32-4851-03D940711A20}"/>
              </a:ext>
            </a:extLst>
          </p:cNvPr>
          <p:cNvSpPr txBox="1"/>
          <p:nvPr/>
        </p:nvSpPr>
        <p:spPr>
          <a:xfrm>
            <a:off x="834084" y="6038336"/>
            <a:ext cx="4638675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F8FAFC"/>
                </a:solidFill>
                <a:latin typeface="Lato SemiBold"/>
              </a:rPr>
              <a:t>Total </a:t>
            </a:r>
            <a:r>
              <a:rPr lang="en-US" sz="1500" b="0" i="0" u="none" dirty="0">
                <a:solidFill>
                  <a:srgbClr val="F8FAFC"/>
                </a:solidFill>
                <a:latin typeface="Lato SemiBold"/>
              </a:rPr>
              <a:t>Country</a:t>
            </a:r>
            <a:endParaRPr sz="1500" b="0" i="0" u="none" dirty="0">
              <a:solidFill>
                <a:srgbClr val="F8FAFC"/>
              </a:solidFill>
              <a:latin typeface="Lato SemiBol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F22B41-77CF-F38C-5F3F-C9E6480691B7}"/>
              </a:ext>
            </a:extLst>
          </p:cNvPr>
          <p:cNvSpPr txBox="1"/>
          <p:nvPr/>
        </p:nvSpPr>
        <p:spPr>
          <a:xfrm>
            <a:off x="930466" y="5159150"/>
            <a:ext cx="4638675" cy="951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dirty="0">
                <a:solidFill>
                  <a:srgbClr val="38BDF8"/>
                </a:solidFill>
                <a:latin typeface="Poppins"/>
              </a:rPr>
              <a:t>100</a:t>
            </a:r>
            <a:r>
              <a:rPr sz="7200" b="1" i="0" u="none" dirty="0">
                <a:solidFill>
                  <a:srgbClr val="38BDF8"/>
                </a:solidFill>
                <a:latin typeface="Poppins"/>
              </a:rPr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7D294B-E381-1927-9F98-F58AFBFA8D67}"/>
              </a:ext>
            </a:extLst>
          </p:cNvPr>
          <p:cNvSpPr txBox="1"/>
          <p:nvPr/>
        </p:nvSpPr>
        <p:spPr>
          <a:xfrm>
            <a:off x="6279376" y="5570679"/>
            <a:ext cx="5505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🏆 </a:t>
            </a: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 Airlines &amp; Routes: </a:t>
            </a: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Identifies the best-performing airlines and busiest flight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710906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oppins SemiBold"/>
              </a:rPr>
              <a:t>Relational Data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03. SQL Queries and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21649-B307-1C32-D895-15B9F12F047A}"/>
              </a:ext>
            </a:extLst>
          </p:cNvPr>
          <p:cNvSpPr txBox="1"/>
          <p:nvPr/>
        </p:nvSpPr>
        <p:spPr>
          <a:xfrm>
            <a:off x="471351" y="2131373"/>
            <a:ext cx="58100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🗄️ Data Retrieval: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Extracted airline operational data from a relational SQL database using optimized SELECT queries.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📊 Aggregation &amp; Analysis: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Applied GROUP BY, ORDER BY, and aggregate functions (COUNT, SUM, AVG) to generate KPI-ready datasets.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🔗 Filtering &amp; Data Preparation: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Used WHERE clauses and calculated fields to filter records and prepare data for Tableau visualizations.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04. Excel Dashboard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808F1-E421-264E-461A-CF76A643C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4" y="1859833"/>
            <a:ext cx="8062452" cy="4052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36CF3-2578-7C2D-D41D-88B0B8AF5E0B}"/>
              </a:ext>
            </a:extLst>
          </p:cNvPr>
          <p:cNvSpPr txBox="1"/>
          <p:nvPr/>
        </p:nvSpPr>
        <p:spPr>
          <a:xfrm>
            <a:off x="8490154" y="2359435"/>
            <a:ext cx="35986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Business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Monitor airline performance in one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Identify peak travel seasons.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Optimize flight scheduling.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Improve route planning.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Compare carrier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Support data-driven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Enhance operational efficiency and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05. Power BI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4E1D2-71A5-AAA3-CE3F-F06E73C76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7" y="1709583"/>
            <a:ext cx="6695768" cy="3899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29D764-3207-3956-3C79-81C78E7CB6FA}"/>
              </a:ext>
            </a:extLst>
          </p:cNvPr>
          <p:cNvSpPr txBox="1"/>
          <p:nvPr/>
        </p:nvSpPr>
        <p:spPr>
          <a:xfrm>
            <a:off x="7108722" y="1188750"/>
            <a:ext cx="481145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Dashboard Overview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sz="1600" dirty="0">
                <a:solidFill>
                  <a:schemeClr val="bg1"/>
                </a:solidFill>
              </a:rPr>
              <a:t>This Power BI dashboard </a:t>
            </a:r>
            <a:r>
              <a:rPr lang="en-IN" sz="1600" dirty="0" err="1">
                <a:solidFill>
                  <a:schemeClr val="bg1"/>
                </a:solidFill>
              </a:rPr>
              <a:t>analyzes</a:t>
            </a:r>
            <a:r>
              <a:rPr lang="en-IN" sz="1600" dirty="0">
                <a:solidFill>
                  <a:schemeClr val="bg1"/>
                </a:solidFill>
              </a:rPr>
              <a:t> the performance of </a:t>
            </a:r>
            <a:r>
              <a:rPr lang="en-IN" sz="1600" b="1" dirty="0">
                <a:solidFill>
                  <a:schemeClr val="bg1"/>
                </a:solidFill>
              </a:rPr>
              <a:t>P1340 High Cloud Airlines</a:t>
            </a:r>
            <a:r>
              <a:rPr lang="en-IN" sz="1600" dirty="0">
                <a:solidFill>
                  <a:schemeClr val="bg1"/>
                </a:solidFill>
              </a:rPr>
              <a:t>, providing insights into passenger traffic, flights, seat utilization, and operational efficiency.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Key Performance Indicators (KPIs)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sz="1600" dirty="0">
                <a:solidFill>
                  <a:schemeClr val="bg1"/>
                </a:solidFill>
              </a:rPr>
              <a:t>The dashboard highlights four main KPIs: </a:t>
            </a:r>
          </a:p>
          <a:p>
            <a:pPr lvl="2"/>
            <a:r>
              <a:rPr lang="en-IN" sz="1600" b="1" dirty="0">
                <a:solidFill>
                  <a:schemeClr val="bg1"/>
                </a:solidFill>
              </a:rPr>
              <a:t>187M</a:t>
            </a:r>
            <a:r>
              <a:rPr lang="en-IN" sz="1600" dirty="0">
                <a:solidFill>
                  <a:schemeClr val="bg1"/>
                </a:solidFill>
              </a:rPr>
              <a:t> Total Transported Passengers </a:t>
            </a:r>
          </a:p>
          <a:p>
            <a:pPr lvl="2"/>
            <a:r>
              <a:rPr lang="en-IN" sz="1600" b="1" dirty="0">
                <a:solidFill>
                  <a:schemeClr val="bg1"/>
                </a:solidFill>
              </a:rPr>
              <a:t>244M</a:t>
            </a:r>
            <a:r>
              <a:rPr lang="en-IN" sz="1600" dirty="0">
                <a:solidFill>
                  <a:schemeClr val="bg1"/>
                </a:solidFill>
              </a:rPr>
              <a:t> Total Available Seats </a:t>
            </a:r>
          </a:p>
          <a:p>
            <a:pPr lvl="2"/>
            <a:r>
              <a:rPr lang="en-IN" sz="1600" b="1" dirty="0">
                <a:solidFill>
                  <a:schemeClr val="bg1"/>
                </a:solidFill>
              </a:rPr>
              <a:t>3M</a:t>
            </a:r>
            <a:r>
              <a:rPr lang="en-IN" sz="1600" dirty="0">
                <a:solidFill>
                  <a:schemeClr val="bg1"/>
                </a:solidFill>
              </a:rPr>
              <a:t> Total Departures Performed </a:t>
            </a:r>
          </a:p>
          <a:p>
            <a:pPr lvl="2"/>
            <a:r>
              <a:rPr lang="en-IN" sz="1600" b="1" dirty="0">
                <a:solidFill>
                  <a:schemeClr val="bg1"/>
                </a:solidFill>
              </a:rPr>
              <a:t>76.80%</a:t>
            </a:r>
            <a:r>
              <a:rPr lang="en-IN" sz="1600" dirty="0">
                <a:solidFill>
                  <a:schemeClr val="bg1"/>
                </a:solidFill>
              </a:rPr>
              <a:t> Overall Load Factor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Interactive Filters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sz="1600" dirty="0">
                <a:solidFill>
                  <a:schemeClr val="bg1"/>
                </a:solidFill>
              </a:rPr>
              <a:t>Users can filter the data by </a:t>
            </a:r>
            <a:r>
              <a:rPr lang="en-IN" sz="1600" b="1" dirty="0">
                <a:solidFill>
                  <a:schemeClr val="bg1"/>
                </a:solidFill>
              </a:rPr>
              <a:t>Year, Quarter, Origin Country, and Month</a:t>
            </a:r>
            <a:r>
              <a:rPr lang="en-IN" sz="1600" dirty="0">
                <a:solidFill>
                  <a:schemeClr val="bg1"/>
                </a:solidFill>
              </a:rPr>
              <a:t>, enabling dynamic analysis of airline performance across different time periods and locations.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Performance Analysis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sz="1600" dirty="0">
                <a:solidFill>
                  <a:schemeClr val="bg1"/>
                </a:solidFill>
              </a:rPr>
              <a:t>Visualizations show </a:t>
            </a:r>
            <a:r>
              <a:rPr lang="en-IN" sz="1600" b="1" dirty="0">
                <a:solidFill>
                  <a:schemeClr val="bg1"/>
                </a:solidFill>
              </a:rPr>
              <a:t>Load Factor by Year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b="1" dirty="0">
                <a:solidFill>
                  <a:schemeClr val="bg1"/>
                </a:solidFill>
              </a:rPr>
              <a:t>Top 10 Routes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b="1" dirty="0">
                <a:solidFill>
                  <a:schemeClr val="bg1"/>
                </a:solidFill>
              </a:rPr>
              <a:t>Top 10 Carriers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b="1" dirty="0">
                <a:solidFill>
                  <a:schemeClr val="bg1"/>
                </a:solidFill>
              </a:rPr>
              <a:t>Flights by Distance Group</a:t>
            </a:r>
            <a:r>
              <a:rPr lang="en-IN" sz="1600" dirty="0">
                <a:solidFill>
                  <a:schemeClr val="bg1"/>
                </a:solidFill>
              </a:rPr>
              <a:t>, and </a:t>
            </a:r>
            <a:r>
              <a:rPr lang="en-IN" sz="1600" b="1" dirty="0">
                <a:solidFill>
                  <a:schemeClr val="bg1"/>
                </a:solidFill>
              </a:rPr>
              <a:t>Weekend vs Weekday Load Factor</a:t>
            </a:r>
            <a:r>
              <a:rPr lang="en-IN" sz="1600" dirty="0">
                <a:solidFill>
                  <a:schemeClr val="bg1"/>
                </a:solidFill>
              </a:rPr>
              <a:t>, helping identify trends and busiest operations. 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06. Tableau Visualization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9B05C-9874-A63F-AAC8-E3DD61E9E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43" y="1638298"/>
            <a:ext cx="6848061" cy="4345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DCCD4-65EB-278D-D608-69EEED7B839A}"/>
              </a:ext>
            </a:extLst>
          </p:cNvPr>
          <p:cNvSpPr txBox="1"/>
          <p:nvPr/>
        </p:nvSpPr>
        <p:spPr>
          <a:xfrm>
            <a:off x="7036904" y="1179337"/>
            <a:ext cx="44924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1. Dashboard Overview</a:t>
            </a:r>
          </a:p>
          <a:p>
            <a:r>
              <a:rPr lang="en-IN" sz="1600" dirty="0">
                <a:solidFill>
                  <a:schemeClr val="bg1"/>
                </a:solidFill>
              </a:rPr>
              <a:t>This Tableau dashboard provides a comprehensive analysis of </a:t>
            </a:r>
            <a:r>
              <a:rPr lang="en-IN" sz="1600" b="1" dirty="0">
                <a:solidFill>
                  <a:schemeClr val="bg1"/>
                </a:solidFill>
              </a:rPr>
              <a:t>High Cloud Airlines</a:t>
            </a:r>
            <a:r>
              <a:rPr lang="en-IN" sz="1600" dirty="0">
                <a:solidFill>
                  <a:schemeClr val="bg1"/>
                </a:solidFill>
              </a:rPr>
              <a:t>, focusing on airline performance, passenger traffic, routes, destinations, and operational efficiency.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2. Key Performance Indicators (KPIs)</a:t>
            </a:r>
          </a:p>
          <a:p>
            <a:r>
              <a:rPr lang="en-IN" sz="1600" dirty="0">
                <a:solidFill>
                  <a:schemeClr val="bg1"/>
                </a:solidFill>
              </a:rPr>
              <a:t>The dashboard displays important metrics:</a:t>
            </a:r>
          </a:p>
          <a:p>
            <a:pPr lvl="1"/>
            <a:r>
              <a:rPr lang="en-IN" sz="1600" b="1" dirty="0">
                <a:solidFill>
                  <a:schemeClr val="bg1"/>
                </a:solidFill>
              </a:rPr>
              <a:t>207 Total Airlines</a:t>
            </a:r>
            <a:endParaRPr lang="en-IN" sz="1600" dirty="0">
              <a:solidFill>
                <a:schemeClr val="bg1"/>
              </a:solidFill>
            </a:endParaRPr>
          </a:p>
          <a:p>
            <a:pPr lvl="1"/>
            <a:r>
              <a:rPr lang="en-IN" sz="1600" b="1" dirty="0">
                <a:solidFill>
                  <a:schemeClr val="bg1"/>
                </a:solidFill>
              </a:rPr>
              <a:t>187 Million Total Passengers</a:t>
            </a:r>
            <a:endParaRPr lang="en-IN" sz="1600" dirty="0">
              <a:solidFill>
                <a:schemeClr val="bg1"/>
              </a:solidFill>
            </a:endParaRPr>
          </a:p>
          <a:p>
            <a:pPr lvl="1"/>
            <a:r>
              <a:rPr lang="en-IN" sz="1600" b="1" dirty="0">
                <a:solidFill>
                  <a:schemeClr val="bg1"/>
                </a:solidFill>
              </a:rPr>
              <a:t>106 Countries</a:t>
            </a:r>
            <a:endParaRPr lang="en-IN" sz="1600" dirty="0">
              <a:solidFill>
                <a:schemeClr val="bg1"/>
              </a:solidFill>
            </a:endParaRPr>
          </a:p>
          <a:p>
            <a:pPr lvl="1"/>
            <a:r>
              <a:rPr lang="en-IN" sz="1600" b="1" dirty="0">
                <a:solidFill>
                  <a:schemeClr val="bg1"/>
                </a:solidFill>
              </a:rPr>
              <a:t>66 States</a:t>
            </a:r>
            <a:endParaRPr lang="en-IN" sz="1600" dirty="0">
              <a:solidFill>
                <a:schemeClr val="bg1"/>
              </a:solidFill>
            </a:endParaRPr>
          </a:p>
          <a:p>
            <a:pPr lvl="1"/>
            <a:r>
              <a:rPr lang="en-IN" sz="1600" b="1" dirty="0">
                <a:solidFill>
                  <a:schemeClr val="bg1"/>
                </a:solidFill>
              </a:rPr>
              <a:t>1,296 Cities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3. Interactive Filters</a:t>
            </a:r>
          </a:p>
          <a:p>
            <a:r>
              <a:rPr lang="en-IN" sz="1600" dirty="0">
                <a:solidFill>
                  <a:schemeClr val="bg1"/>
                </a:solidFill>
              </a:rPr>
              <a:t>Users can </a:t>
            </a:r>
            <a:r>
              <a:rPr lang="en-IN" sz="1600" dirty="0" err="1">
                <a:solidFill>
                  <a:schemeClr val="bg1"/>
                </a:solidFill>
              </a:rPr>
              <a:t>analyze</a:t>
            </a:r>
            <a:r>
              <a:rPr lang="en-IN" sz="1600" dirty="0">
                <a:solidFill>
                  <a:schemeClr val="bg1"/>
                </a:solidFill>
              </a:rPr>
              <a:t> the data using filters such as </a:t>
            </a:r>
            <a:r>
              <a:rPr lang="en-IN" sz="1600" b="1" dirty="0">
                <a:solidFill>
                  <a:schemeClr val="bg1"/>
                </a:solidFill>
              </a:rPr>
              <a:t>Weekend/Weekday, Day Name, Year, Month, and Quarter</a:t>
            </a:r>
            <a:r>
              <a:rPr lang="en-IN" sz="1600" dirty="0">
                <a:solidFill>
                  <a:schemeClr val="bg1"/>
                </a:solidFill>
              </a:rPr>
              <a:t>, making the dashboard dynamic and easy to explore.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4. Performance Analysis</a:t>
            </a:r>
          </a:p>
          <a:p>
            <a:r>
              <a:rPr lang="en-IN" sz="1600" dirty="0">
                <a:solidFill>
                  <a:schemeClr val="bg1"/>
                </a:solidFill>
              </a:rPr>
              <a:t>The dashboard highlights </a:t>
            </a:r>
            <a:r>
              <a:rPr lang="en-IN" sz="1600" b="1" dirty="0">
                <a:solidFill>
                  <a:schemeClr val="bg1"/>
                </a:solidFill>
              </a:rPr>
              <a:t>Top 10 Carriers by Load Factor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b="1" dirty="0">
                <a:solidFill>
                  <a:schemeClr val="bg1"/>
                </a:solidFill>
              </a:rPr>
              <a:t>Top 10 Carriers by Flights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b="1" dirty="0">
                <a:solidFill>
                  <a:schemeClr val="bg1"/>
                </a:solidFill>
              </a:rPr>
              <a:t>Top 10 Routes by Number of Flights</a:t>
            </a:r>
            <a:r>
              <a:rPr lang="en-IN" sz="1600" dirty="0">
                <a:solidFill>
                  <a:schemeClr val="bg1"/>
                </a:solidFill>
              </a:rPr>
              <a:t>, </a:t>
            </a:r>
            <a:r>
              <a:rPr lang="en-IN" sz="1600" b="1" dirty="0">
                <a:solidFill>
                  <a:schemeClr val="bg1"/>
                </a:solidFill>
              </a:rPr>
              <a:t>Load Factor by Weekend vs Weekday</a:t>
            </a:r>
            <a:r>
              <a:rPr lang="en-IN" sz="1600" dirty="0">
                <a:solidFill>
                  <a:schemeClr val="bg1"/>
                </a:solidFill>
              </a:rPr>
              <a:t>, and </a:t>
            </a:r>
            <a:r>
              <a:rPr lang="en-IN" sz="1600" b="1" dirty="0">
                <a:solidFill>
                  <a:schemeClr val="bg1"/>
                </a:solidFill>
              </a:rPr>
              <a:t>Departures by Day</a:t>
            </a:r>
            <a:r>
              <a:rPr lang="en-IN" sz="1600" dirty="0">
                <a:solidFill>
                  <a:schemeClr val="bg1"/>
                </a:solidFill>
              </a:rPr>
              <a:t>, helping identify operational trends.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466849"/>
            <a:ext cx="3524250" cy="426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466848"/>
            <a:ext cx="3524250" cy="426720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296" y="1466849"/>
            <a:ext cx="3524250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3480" y="1675995"/>
            <a:ext cx="316039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oppins SemiBold"/>
              </a:rPr>
              <a:t>Data Quality &amp; Inconsistency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705" y="2342745"/>
            <a:ext cx="3388995" cy="2410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75" b="1" i="0" u="none" dirty="0">
                <a:solidFill>
                  <a:srgbClr val="CBD5E1"/>
                </a:solidFill>
                <a:latin typeface="Lato"/>
              </a:rPr>
              <a:t>Challenge</a:t>
            </a:r>
            <a:r>
              <a:rPr lang="en-US" sz="1275" b="0" i="0" u="none" dirty="0">
                <a:solidFill>
                  <a:srgbClr val="CBD5E1"/>
                </a:solidFill>
                <a:latin typeface="Lato"/>
              </a:rPr>
              <a:t>: Dataset contained missing values and inconsistent date fields (Year, Month, Day stored separately).Special characters in column names (e.g., # Available Seats, Month (#)) made SQL queries more complex.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75" b="1" i="0" u="none" dirty="0">
                <a:solidFill>
                  <a:srgbClr val="CBD5E1"/>
                </a:solidFill>
                <a:latin typeface="Lato"/>
              </a:rPr>
              <a:t>Solution</a:t>
            </a:r>
            <a:r>
              <a:rPr lang="en-US" sz="1275" b="0" i="0" u="none" dirty="0">
                <a:solidFill>
                  <a:srgbClr val="CBD5E1"/>
                </a:solidFill>
                <a:latin typeface="Lato"/>
              </a:rPr>
              <a:t>: Cleaned the data using SQL. Created a proper Date field and standardized data types before importing into Tableau.</a:t>
            </a:r>
            <a:endParaRPr sz="1275" b="0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5814" y="1753783"/>
            <a:ext cx="331563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800" b="0" i="0" u="none" dirty="0">
                <a:solidFill>
                  <a:srgbClr val="38BDF8"/>
                </a:solidFill>
                <a:latin typeface="Poppins SemiBold"/>
              </a:rPr>
              <a:t>🗄️ SQL Query Optimization</a:t>
            </a:r>
            <a:endParaRPr sz="1800" b="0" i="0" u="none" dirty="0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38687" y="2317716"/>
            <a:ext cx="3009900" cy="2410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75" b="1" i="0" u="none" dirty="0">
                <a:solidFill>
                  <a:srgbClr val="CBD5E1"/>
                </a:solidFill>
                <a:latin typeface="Lato"/>
              </a:rPr>
              <a:t>Challenge</a:t>
            </a:r>
            <a:r>
              <a:rPr lang="en-US" sz="1275" b="0" i="0" u="none" dirty="0">
                <a:solidFill>
                  <a:srgbClr val="CBD5E1"/>
                </a:solidFill>
                <a:latin typeface="Lato"/>
              </a:rPr>
              <a:t>: Extracting KPI-ready data required aggregating large datasets. Calculating Load Factor, Top Routes, and Carrier Performance involved multiple aggregate functions and grouping.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75" b="1" i="0" u="none" dirty="0">
                <a:solidFill>
                  <a:srgbClr val="CBD5E1"/>
                </a:solidFill>
                <a:latin typeface="Lato"/>
              </a:rPr>
              <a:t>Solution</a:t>
            </a:r>
            <a:r>
              <a:rPr lang="en-US" sz="1275" b="0" i="0" u="none" dirty="0">
                <a:solidFill>
                  <a:srgbClr val="CBD5E1"/>
                </a:solidFill>
                <a:latin typeface="Lato"/>
              </a:rPr>
              <a:t>: Used SELECT, WHERE, GROUP BY, ORDER BY, COUNT(), SUM(), and ROUND() to prepare summarized datasets for Tableau.</a:t>
            </a:r>
            <a:endParaRPr sz="1275" b="0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68652" y="1732371"/>
            <a:ext cx="31603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800" b="0" i="0" u="none" dirty="0">
                <a:solidFill>
                  <a:srgbClr val="38BDF8"/>
                </a:solidFill>
                <a:latin typeface="Poppins SemiBold"/>
              </a:rPr>
              <a:t>📊 Dashboard Design &amp; Performance</a:t>
            </a:r>
            <a:endParaRPr sz="1800" b="0" i="0" u="none" dirty="0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62937" y="2342745"/>
            <a:ext cx="3009900" cy="2654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75" b="1" i="0" u="none" dirty="0">
                <a:solidFill>
                  <a:srgbClr val="CBD5E1"/>
                </a:solidFill>
                <a:latin typeface="Lato"/>
              </a:rPr>
              <a:t>Challenge</a:t>
            </a:r>
            <a:r>
              <a:rPr lang="en-US" sz="1275" b="0" i="0" u="none" dirty="0">
                <a:solidFill>
                  <a:srgbClr val="CBD5E1"/>
                </a:solidFill>
                <a:latin typeface="Lato"/>
              </a:rPr>
              <a:t>: Displaying multiple KPIs on one dashboard while maintaining clarity and responsiveness. Implementing interactive filters without affecting dashboard usability.</a:t>
            </a:r>
          </a:p>
          <a:p>
            <a:pPr marL="285750" indent="-285750" algn="l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275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275" b="1" i="0" u="none" dirty="0">
                <a:solidFill>
                  <a:srgbClr val="CBD5E1"/>
                </a:solidFill>
                <a:latin typeface="Lato"/>
              </a:rPr>
              <a:t>Solution: </a:t>
            </a:r>
            <a:r>
              <a:rPr lang="en-US" sz="1275" b="0" i="0" u="none" dirty="0">
                <a:solidFill>
                  <a:srgbClr val="CBD5E1"/>
                </a:solidFill>
                <a:latin typeface="Lato"/>
              </a:rPr>
              <a:t>Designed separate KPI worksheets and combined them into a single dashboard. Optimized filters and visualizations to improve dashboard performance and user experience.</a:t>
            </a:r>
            <a:endParaRPr sz="1275" b="0" i="0" u="none" dirty="0">
              <a:solidFill>
                <a:srgbClr val="CBD5E1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4" y="1700009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07. Challenges Faced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0087" y="1569496"/>
            <a:ext cx="10629900" cy="46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275" i="0" u="none" dirty="0">
                <a:solidFill>
                  <a:srgbClr val="F8FAFC"/>
                </a:solidFill>
                <a:latin typeface="Lato"/>
              </a:rPr>
              <a:t>✈️ </a:t>
            </a:r>
            <a:r>
              <a:rPr lang="en-US" sz="1275" b="1" i="0" u="none" dirty="0">
                <a:solidFill>
                  <a:srgbClr val="F8FAFC"/>
                </a:solidFill>
                <a:latin typeface="Lato"/>
              </a:rPr>
              <a:t>Improve Load Factor Recommendation: </a:t>
            </a:r>
            <a:r>
              <a:rPr lang="en-US" sz="1275" i="0" u="none" dirty="0">
                <a:solidFill>
                  <a:srgbClr val="F8FAFC"/>
                </a:solidFill>
                <a:latin typeface="Lato"/>
              </a:rPr>
              <a:t>Monitor low load factor periods and optimize flight schedules or promotional campaigns to improve seat occupancy and maximize revenue.</a:t>
            </a:r>
            <a:endParaRPr sz="1275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08. Conclusion &amp; Actionable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A2B96-B412-023C-AC66-4B457C3F90AE}"/>
              </a:ext>
            </a:extLst>
          </p:cNvPr>
          <p:cNvSpPr txBox="1"/>
          <p:nvPr/>
        </p:nvSpPr>
        <p:spPr>
          <a:xfrm>
            <a:off x="524827" y="2197663"/>
            <a:ext cx="8443913" cy="48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8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🛫 </a:t>
            </a:r>
            <a:r>
              <a:rPr lang="en-US" sz="128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Optimize High-Demand Routes Recommendation</a:t>
            </a:r>
            <a:r>
              <a:rPr lang="en-US" sz="128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Increase flight frequency or aircraft capacity on the busiest routes while reviewing low-demand routes for schedule optimization.</a:t>
            </a:r>
            <a:endParaRPr lang="en-IN" sz="128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412D85-B26A-B841-28A1-7FF60174FB69}"/>
              </a:ext>
            </a:extLst>
          </p:cNvPr>
          <p:cNvSpPr txBox="1"/>
          <p:nvPr/>
        </p:nvSpPr>
        <p:spPr>
          <a:xfrm>
            <a:off x="581025" y="2825805"/>
            <a:ext cx="10074593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8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📊 Enhance Performance Monitoring</a:t>
            </a:r>
          </a:p>
          <a:p>
            <a:pPr>
              <a:buNone/>
            </a:pPr>
            <a:r>
              <a:rPr lang="en-IN" sz="128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Recommendation</a:t>
            </a:r>
            <a:r>
              <a:rPr lang="en-IN" sz="128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Use the interactive Tableau dashboard to continuously monitor KPIs such as Load Factor, Carrier Performance, and Flight Trends for faster business decisions.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4E69A-BCB0-E723-9EF4-1B1949A12CE7}"/>
              </a:ext>
            </a:extLst>
          </p:cNvPr>
          <p:cNvSpPr txBox="1"/>
          <p:nvPr/>
        </p:nvSpPr>
        <p:spPr>
          <a:xfrm>
            <a:off x="581025" y="3650924"/>
            <a:ext cx="108051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8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🗄️ Automate Data Pipeline</a:t>
            </a:r>
          </a:p>
          <a:p>
            <a:pPr>
              <a:buNone/>
            </a:pPr>
            <a:r>
              <a:rPr lang="en-IN" sz="128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Recommendation: </a:t>
            </a:r>
            <a:r>
              <a:rPr lang="en-IN" sz="128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Integrate the SQL database directly with Tableau through scheduled refreshes to provide near real-time reporting and reduce manual data preparation.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371725"/>
            <a:ext cx="11581447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8FAFC"/>
                </a:solidFill>
                <a:latin typeface="Poppins"/>
              </a:rPr>
              <a:t>09.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533775"/>
            <a:ext cx="11029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Lato"/>
              </a:rPr>
              <a:t>Questions &amp; Answers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1145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Pinapaka Omkar</dc:creator>
  <cp:keywords/>
  <dc:description>generated using python-pptx</dc:description>
  <cp:lastModifiedBy>Pinapaka Omkar</cp:lastModifiedBy>
  <cp:revision>14</cp:revision>
  <dcterms:created xsi:type="dcterms:W3CDTF">2013-01-27T09:14:16Z</dcterms:created>
  <dcterms:modified xsi:type="dcterms:W3CDTF">2026-08-09T10:52:15Z</dcterms:modified>
  <cp:category/>
</cp:coreProperties>
</file>